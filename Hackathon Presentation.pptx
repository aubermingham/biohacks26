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7" r:id="rId6"/>
    <p:sldId id="257" r:id="rId7"/>
    <p:sldId id="258" r:id="rId8"/>
    <p:sldId id="265" r:id="rId9"/>
    <p:sldId id="259" r:id="rId10"/>
    <p:sldId id="260" r:id="rId11"/>
    <p:sldId id="264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7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3E730-C698-481A-9678-066B152F647D}" v="16" dt="2026-10-03T20:06:37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E10D6-682A-457B-8B14-188C42AAA0F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FC8DA-24CE-42F7-9248-0A243751B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8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0F23-8965-4AFA-340D-8E060876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84304-F3DF-9326-066A-C9C09B5AA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5AFC0-2CB9-D294-2BA2-354B275AE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08620-FD5B-94C9-6313-31241C955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FC8DA-24CE-42F7-9248-0A243751B2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91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FC8DA-24CE-42F7-9248-0A243751B2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7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C0E4-4A3E-EC23-069D-41774420B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BDE62-32D6-15F9-296C-095AADB8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D2E93-6432-2EB8-89C0-E3F03B58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7E43-90BF-2A1C-F781-5021E4FA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A89A2-9881-2A7D-11C1-B5F09A0C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25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653B-FF8A-D1FC-5779-CED5A41E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ADA33-2F5C-6F36-09E9-4F9AC6656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D3626-C60D-C260-C3D3-BB24DA6A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AF26-75BA-943C-0C5C-EB7C47D8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F1D9D-58DA-2CA2-B89A-5D216ACD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1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37A0-37FF-1F59-89C8-DA119A77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E53E-C81A-9CD8-72EE-68376316A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81E6-20E5-6124-24F2-91D3BBA9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94DA-050C-5693-677C-3C5264112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5FB54-C6B4-EEEB-6530-3B49710C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9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0330-1581-8D4C-8652-C7AF7339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2E82C-C824-4EEB-BD06-2E23999FA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E6F7D-4F8F-3ACC-343E-338782B0D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9D6E4-FE81-639F-D354-2399F51C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F5C81-06C1-0D72-4018-A20CE71F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5E272-68FD-1896-F3CD-CED5257B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2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E753-77F4-D6A7-327A-DD5AF630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A3C9A-4488-3F70-4C11-46EFD997C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FA07C-1CF3-F8AA-45BE-9ED6B1C64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40D32-15FB-2750-4CF9-201578A56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A31C2-E846-2BD9-BE02-644285D92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D8F43-F57C-25F7-6F60-B4F220DC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C0C1A-2E5B-BB82-552D-EF9B6016C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FF6D-261B-2FAC-F43C-847E0D1C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6338-D859-E00C-D36D-AE795F0A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F2856-AFAA-C41D-825C-C878937A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015F2-86D4-7A34-6EFB-9A13A4D6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40CDF-4FA4-60B0-AADF-0E4C3968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C5AD2-ECEF-225A-1CBB-14158DC9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3D6F1-3C65-59E0-2D72-1F92B211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79CE-7184-4C3E-13E9-100D26EA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2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050A-8F1F-707E-E61E-F4709811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C852-95CB-0027-4BF2-44E26EEA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74F68-70A8-F740-AB52-92C413CE0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2AC64-ECEB-C363-737C-0613E6BA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02E46-7D34-0B2E-231E-C636E0F6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93B31-A923-6424-9D88-375F701D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4F69-1219-D097-16E9-D74BA919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94153-CD33-BA3F-EF0B-8EB8C46F4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FEBA6-CEA4-D16A-C1BC-81FAC5700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63BA9-3349-7F9D-9B05-995F9CF59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647BC-85E7-B6C3-3C67-99FE959F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BA994-33ED-3A14-03BA-7D5A9E89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30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454E-56C1-3566-A40C-FBB6424D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BE3BC-363A-85DF-4B5A-023A16EDC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69E7-E8D1-91A8-3454-9C758FCA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6D7F-A01F-BCEA-EA71-EA416067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5D70A-1A80-9DDB-518C-E7E0C1F7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0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9ABCB-9B99-BF1D-6535-D15EDB691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F895C-7BD7-5E63-EC9A-AAF3A3FDA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BABE-C143-C7E9-9AE8-DE083369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43A7-98AB-EC2A-67F4-9FA26BD7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FAF47-D30A-8934-2B7D-31A8F5A8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4C22D-73E1-8B8B-62B4-35AE8597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9DC3C-CF5E-9F2D-C66C-598D04F82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2E430-6B14-F790-0815-BD4F57FDE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6E156-50D2-4673-BA2B-8670C5FCA4A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4D211-466F-FCEE-75EF-332B6DB59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B4B3E-2C5E-ADD9-FEB0-30BBC0234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D7D1D-5F71-49E0-97C1-499F9E79C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8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Aubermingham.github.io/biohacks26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.powerbi.com/groups/me/reports/6b0c875b-d33a-4503-a262-de9431b8c030/?pbi_source=PowerPoin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F3FEF-E6DA-6885-9709-1C3E60A1B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Data Applications to Enteral Feeding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6C282-1487-C9A2-5DEE-7B852872E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By Austin Bermingham &amp; Kyle Borgemenke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8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6F7A3-234E-9AAD-1C26-01EDA04E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7C798F5-6BD9-A32C-802E-2B7FD8F7E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61FBD-A460-1CC6-B601-94CE6C0B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Current Problems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88031F48-A26C-BDDC-5D24-F251524E9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AEA69-8C5E-E7A8-2EF7-F7DE1142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Many feeding pumps such as Vesco Q pump lack a data export function. </a:t>
            </a:r>
          </a:p>
          <a:p>
            <a:endParaRPr lang="en-US" sz="2200"/>
          </a:p>
          <a:p>
            <a:r>
              <a:rPr lang="en-US" sz="2200"/>
              <a:t>Limit the ability of providers and caregivers to monitor success.</a:t>
            </a:r>
          </a:p>
          <a:p>
            <a:pPr lvl="1"/>
            <a:r>
              <a:rPr lang="en-US" sz="2200"/>
              <a:t>Only last feed information is stored.</a:t>
            </a:r>
          </a:p>
          <a:p>
            <a:endParaRPr lang="en-US" sz="2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B0761-296F-65DB-9D24-40B5D47B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2" r="-2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3A700-E52C-DF99-DCDD-B2C3516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Goals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140AD-2B54-8CFE-775F-7A3484C12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Empower Providers &amp; Caregivers to make Data Driven Decisions to Feeding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F102E-BF2C-5DE1-1218-3301654B9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0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7E741-03CD-78C0-0CC2-8323A1A0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Overview of Solution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07DF2-DCC1-9A95-DB3C-D79CB62BC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000"/>
              <a:t>Integrating a low-energy Bluetooth module to facilitate export.</a:t>
            </a:r>
          </a:p>
          <a:p>
            <a:r>
              <a:rPr lang="en-US" sz="2000"/>
              <a:t>Developing a database endpoint to store data.</a:t>
            </a:r>
          </a:p>
          <a:p>
            <a:r>
              <a:rPr lang="en-US" sz="2000"/>
              <a:t>Creation of a Semantic Model to Show Relationships.</a:t>
            </a:r>
          </a:p>
          <a:p>
            <a:r>
              <a:rPr lang="en-US" sz="2000"/>
              <a:t>Generation of Data Visualizations that can inform both Caregivers &amp; Providers. </a:t>
            </a:r>
          </a:p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45999-0C8F-C897-C54E-F6A57938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1023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32988D5-5E4A-E68F-B0A5-F0AD93FF6632}"/>
              </a:ext>
            </a:extLst>
          </p:cNvPr>
          <p:cNvSpPr txBox="1">
            <a:spLocks/>
          </p:cNvSpPr>
          <p:nvPr/>
        </p:nvSpPr>
        <p:spPr>
          <a:xfrm>
            <a:off x="658368" y="164591"/>
            <a:ext cx="10469880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/>
              <a:t>Overview of Solution: Walkthrough</a:t>
            </a:r>
            <a:endParaRPr lang="en-US" sz="50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8A228B-CFFE-09D4-12D2-0FBBDB6F034C}"/>
              </a:ext>
            </a:extLst>
          </p:cNvPr>
          <p:cNvSpPr/>
          <p:nvPr/>
        </p:nvSpPr>
        <p:spPr>
          <a:xfrm>
            <a:off x="1279725" y="2896916"/>
            <a:ext cx="2185416" cy="98755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6B2C9D-8962-202C-0983-90D7AB29E5DF}"/>
              </a:ext>
            </a:extLst>
          </p:cNvPr>
          <p:cNvSpPr txBox="1"/>
          <p:nvPr/>
        </p:nvSpPr>
        <p:spPr>
          <a:xfrm>
            <a:off x="1279725" y="2985230"/>
            <a:ext cx="2203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Integration of Bluetooth Module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A9D603-B403-F588-61AC-68C6E2B667F6}"/>
              </a:ext>
            </a:extLst>
          </p:cNvPr>
          <p:cNvCxnSpPr>
            <a:stCxn id="32" idx="3"/>
          </p:cNvCxnSpPr>
          <p:nvPr/>
        </p:nvCxnSpPr>
        <p:spPr>
          <a:xfrm flipV="1">
            <a:off x="3483429" y="3308395"/>
            <a:ext cx="11155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98148B2-8377-CFE8-AE74-B502DDED8FA2}"/>
              </a:ext>
            </a:extLst>
          </p:cNvPr>
          <p:cNvSpPr/>
          <p:nvPr/>
        </p:nvSpPr>
        <p:spPr>
          <a:xfrm>
            <a:off x="4617285" y="2896915"/>
            <a:ext cx="2286000" cy="86109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FE2791-61C7-26A1-F4EF-D86658A9A02C}"/>
              </a:ext>
            </a:extLst>
          </p:cNvPr>
          <p:cNvSpPr txBox="1"/>
          <p:nvPr/>
        </p:nvSpPr>
        <p:spPr>
          <a:xfrm>
            <a:off x="4955613" y="3004296"/>
            <a:ext cx="163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Export to Phone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316FDA-B64B-D743-35E2-86F673D9171E}"/>
              </a:ext>
            </a:extLst>
          </p:cNvPr>
          <p:cNvCxnSpPr>
            <a:stCxn id="34" idx="6"/>
          </p:cNvCxnSpPr>
          <p:nvPr/>
        </p:nvCxnSpPr>
        <p:spPr>
          <a:xfrm flipV="1">
            <a:off x="6903285" y="3308395"/>
            <a:ext cx="1225296" cy="19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C173986-7518-E8AF-A565-F39D29277B06}"/>
              </a:ext>
            </a:extLst>
          </p:cNvPr>
          <p:cNvSpPr/>
          <p:nvPr/>
        </p:nvSpPr>
        <p:spPr>
          <a:xfrm>
            <a:off x="8195637" y="2887381"/>
            <a:ext cx="2286000" cy="86109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F6328F-433D-3E78-BCC1-543BD2ABACCE}"/>
              </a:ext>
            </a:extLst>
          </p:cNvPr>
          <p:cNvSpPr txBox="1"/>
          <p:nvPr/>
        </p:nvSpPr>
        <p:spPr>
          <a:xfrm>
            <a:off x="8055429" y="3142795"/>
            <a:ext cx="2641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Export to Cloud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4A0A5A-E9BC-3CF3-A3C8-E06A77898BF1}"/>
              </a:ext>
            </a:extLst>
          </p:cNvPr>
          <p:cNvCxnSpPr>
            <a:stCxn id="37" idx="4"/>
          </p:cNvCxnSpPr>
          <p:nvPr/>
        </p:nvCxnSpPr>
        <p:spPr>
          <a:xfrm>
            <a:off x="9338637" y="3748476"/>
            <a:ext cx="0" cy="675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0C163F8-F3A6-BD55-78CA-2FA4B3E192C1}"/>
              </a:ext>
            </a:extLst>
          </p:cNvPr>
          <p:cNvSpPr/>
          <p:nvPr/>
        </p:nvSpPr>
        <p:spPr>
          <a:xfrm>
            <a:off x="8216973" y="4455081"/>
            <a:ext cx="2286000" cy="86109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D05BEA-3B05-A1CE-ECF7-A01A9E8C44FF}"/>
              </a:ext>
            </a:extLst>
          </p:cNvPr>
          <p:cNvSpPr txBox="1"/>
          <p:nvPr/>
        </p:nvSpPr>
        <p:spPr>
          <a:xfrm>
            <a:off x="8362134" y="4455081"/>
            <a:ext cx="1995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Connection to Data Visualization Tools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DB9C98-B0ED-61F1-8289-F086A145DDAE}"/>
              </a:ext>
            </a:extLst>
          </p:cNvPr>
          <p:cNvSpPr/>
          <p:nvPr/>
        </p:nvSpPr>
        <p:spPr>
          <a:xfrm>
            <a:off x="4495748" y="4389564"/>
            <a:ext cx="2702051" cy="992129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93C409-02D1-25A5-3C51-7821C87307F5}"/>
              </a:ext>
            </a:extLst>
          </p:cNvPr>
          <p:cNvCxnSpPr>
            <a:cxnSpLocks/>
            <a:stCxn id="40" idx="2"/>
            <a:endCxn id="42" idx="6"/>
          </p:cNvCxnSpPr>
          <p:nvPr/>
        </p:nvCxnSpPr>
        <p:spPr>
          <a:xfrm flipH="1">
            <a:off x="7197799" y="4885629"/>
            <a:ext cx="10191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5B78050-EBB7-95D6-8F1F-B8766B9662E5}"/>
              </a:ext>
            </a:extLst>
          </p:cNvPr>
          <p:cNvSpPr txBox="1"/>
          <p:nvPr/>
        </p:nvSpPr>
        <p:spPr>
          <a:xfrm>
            <a:off x="4495748" y="4551484"/>
            <a:ext cx="276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Connection to Consumer &amp; Provider Endpoints</a:t>
            </a:r>
          </a:p>
        </p:txBody>
      </p:sp>
    </p:spTree>
    <p:extLst>
      <p:ext uri="{BB962C8B-B14F-4D97-AF65-F5344CB8AC3E}">
        <p14:creationId xmlns:p14="http://schemas.microsoft.com/office/powerpoint/2010/main" val="162557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9BC7B-F097-77A2-A199-8D348826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Endpoints for Consumption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2062D-4633-D646-A015-0EC59C70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Caregivers &amp; Homecare: Development of a Personalized App that will give general overview and concerns to caregiver. </a:t>
            </a:r>
          </a:p>
          <a:p>
            <a:endParaRPr lang="en-US" dirty="0"/>
          </a:p>
          <a:p>
            <a:r>
              <a:rPr lang="en-US" dirty="0"/>
              <a:t>Provider Directed Care: Export of patient information to centralized health databased (e.g. MyChart) to allow for proactive clinical decisions.</a:t>
            </a:r>
          </a:p>
          <a:p>
            <a:pPr lvl="1"/>
            <a:r>
              <a:rPr lang="en-US" dirty="0"/>
              <a:t>Built on same principles as remote monitoring for juvenile diabetes to allow for independence while still allowing for medical tracking. </a:t>
            </a:r>
          </a:p>
        </p:txBody>
      </p:sp>
    </p:spTree>
    <p:extLst>
      <p:ext uri="{BB962C8B-B14F-4D97-AF65-F5344CB8AC3E}">
        <p14:creationId xmlns:p14="http://schemas.microsoft.com/office/powerpoint/2010/main" val="331792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35AC-F209-6B53-2018-AD855E61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A3704-7E62-9EB9-7981-DEA3693B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Aubermingham.github.io/biohacks26/</a:t>
            </a:r>
          </a:p>
          <a:p>
            <a:r>
              <a:rPr lang="en-US" dirty="0">
                <a:hlinkClick r:id="rId2"/>
              </a:rPr>
              <a:t>Link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5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96A5B-F373-6352-391F-E302F222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Provider Overview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0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1A6E-4301-EE2E-60D4-BDBA673F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Provider Overview</a:t>
            </a:r>
            <a:endParaRPr lang="en-US" dirty="0"/>
          </a:p>
        </p:txBody>
      </p:sp>
      <p:pic>
        <p:nvPicPr>
          <p:cNvPr id="5" name="Picture" title="This slide contains the following visuals: multiRowCard ,lineChart ,lineChart ,clusteredColumnChart ,clusteredBarChart ,shape ,textbox ,shape ,shape ,shape ,textbox ,textbox ,shape. Please refer to the notes on this slide for details">
            <a:hlinkClick r:id="rId2"/>
            <a:extLst>
              <a:ext uri="{FF2B5EF4-FFF2-40B4-BE49-F238E27FC236}">
                <a16:creationId xmlns:a16="http://schemas.microsoft.com/office/drawing/2014/main" id="{10A04251-FE50-5763-91BA-44D0ADB3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099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2D8CF-F96D-8091-F650-5CC1A972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BC5EE9EB-585A-84E8-8730-A8DC0ADB0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2700" y="591670"/>
            <a:ext cx="2742004" cy="2742004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dbd771-03c6-4dde-bca8-26b694a0a6b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A44CAA0F21A4B946BD0A0312EFED1" ma:contentTypeVersion="5" ma:contentTypeDescription="Create a new document." ma:contentTypeScope="" ma:versionID="3d4206e69047462ae2e436e259928a1c">
  <xsd:schema xmlns:xsd="http://www.w3.org/2001/XMLSchema" xmlns:xs="http://www.w3.org/2001/XMLSchema" xmlns:p="http://schemas.microsoft.com/office/2006/metadata/properties" xmlns:ns3="a6dbd771-03c6-4dde-bca8-26b694a0a6b0" targetNamespace="http://schemas.microsoft.com/office/2006/metadata/properties" ma:root="true" ma:fieldsID="7d60f161723c9da4a258f7fc7bfed71d" ns3:_="">
    <xsd:import namespace="a6dbd771-03c6-4dde-bca8-26b694a0a6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bd771-03c6-4dde-bca8-26b694a0a6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AEA202-C3AC-4693-8637-1C72DC3B30F9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a6dbd771-03c6-4dde-bca8-26b694a0a6b0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24C6FB-DD70-4CAB-A6B0-F95D29DD6B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20F9D3-F6D0-44E3-BFA0-F863E9810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dbd771-03c6-4dde-bca8-26b694a0a6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213</Words>
  <Application>Microsoft Office PowerPoint</Application>
  <PresentationFormat>Widescreen</PresentationFormat>
  <Paragraphs>33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Data Applications to Enteral Feeding</vt:lpstr>
      <vt:lpstr>Current Problems</vt:lpstr>
      <vt:lpstr>Goals</vt:lpstr>
      <vt:lpstr>Overview of Solution</vt:lpstr>
      <vt:lpstr>PowerPoint Presentation</vt:lpstr>
      <vt:lpstr>Endpoints for Consumption</vt:lpstr>
      <vt:lpstr>App Overview</vt:lpstr>
      <vt:lpstr>Provider Overview</vt:lpstr>
      <vt:lpstr>Provider Overview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Borgemenke, Kyle</dc:creator>
  <cp:lastModifiedBy>Borgemenke, Kyle</cp:lastModifiedBy>
  <cp:revision>2</cp:revision>
  <dcterms:created xsi:type="dcterms:W3CDTF">2026-10-03T17:04:43Z</dcterms:created>
  <dcterms:modified xsi:type="dcterms:W3CDTF">2026-10-04T10:18:48Z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0x010100AC7A44CAA0F21A4B946BD0A0312EFED1</vt:lpwstr>
  </property>
</Properties>
</file>